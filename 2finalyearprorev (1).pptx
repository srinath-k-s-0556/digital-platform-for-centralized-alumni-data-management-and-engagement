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88" r:id="rId3"/>
    <p:sldId id="284" r:id="rId4"/>
    <p:sldId id="277" r:id="rId5"/>
    <p:sldId id="282" r:id="rId6"/>
    <p:sldId id="287" r:id="rId7"/>
    <p:sldId id="281" r:id="rId8"/>
    <p:sldId id="280" r:id="rId9"/>
    <p:sldId id="286" r:id="rId10"/>
    <p:sldId id="279" r:id="rId11"/>
    <p:sldId id="285" r:id="rId12"/>
    <p:sldId id="270" r:id="rId13"/>
    <p:sldId id="276"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0282B0-D79C-4DB5-A94B-50849A97DCD6}" v="17" dt="2025-08-12T11:57:31.645"/>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489" autoAdjust="0"/>
  </p:normalViewPr>
  <p:slideViewPr>
    <p:cSldViewPr snapToGrid="0">
      <p:cViewPr varScale="1">
        <p:scale>
          <a:sx n="54" d="100"/>
          <a:sy n="54" d="100"/>
        </p:scale>
        <p:origin x="10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1">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22" y="749334"/>
            <a:ext cx="10363200" cy="962898"/>
          </a:xfrm>
          <a:prstGeom prst="rect">
            <a:avLst/>
          </a:prstGeom>
          <a:noFill/>
          <a:ln>
            <a:noFill/>
          </a:ln>
        </p:spPr>
        <p:txBody>
          <a:bodyPr spcFirstLastPara="1" wrap="square" lIns="91425" tIns="45700" rIns="91425" bIns="45700" anchor="ctr" anchorCtr="0">
            <a:noAutofit/>
          </a:bodyPr>
          <a:lstStyle/>
          <a:p>
            <a:pPr lvl="0" algn="ctr"/>
            <a:r>
              <a:rPr lang="en-US" sz="1800" dirty="0"/>
              <a:t>SIH25017_ Digital Platform for Centralized Alumni Data Management and Engagement</a:t>
            </a:r>
            <a:endParaRPr sz="18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36659" y="1435410"/>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IN" sz="1600" dirty="0"/>
              <a:t>CSE_201</a:t>
            </a:r>
            <a:endParaRPr sz="16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171356"/>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sng"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r>
              <a:rPr lang="en-GB" sz="1800" b="1" u="sng" dirty="0">
                <a:solidFill>
                  <a:srgbClr val="17365D"/>
                </a:solidFill>
                <a:latin typeface="Cambria" panose="02040503050406030204" pitchFamily="18" charset="0"/>
                <a:ea typeface="Cambria" panose="02040503050406030204" pitchFamily="18" charset="0"/>
                <a:cs typeface="Verdana"/>
                <a:sym typeface="Verdana"/>
              </a:rPr>
              <a:t> :                                                                                                                           </a:t>
            </a:r>
            <a:endParaRPr sz="2000" b="1" i="0" u="sng"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IN" sz="1600" b="1" dirty="0">
                <a:solidFill>
                  <a:schemeClr val="accent1">
                    <a:lumMod val="75000"/>
                  </a:schemeClr>
                </a:solidFill>
              </a:rPr>
              <a:t>Ms . </a:t>
            </a:r>
            <a:r>
              <a:rPr lang="en-IN" sz="1600" b="1" dirty="0" err="1">
                <a:solidFill>
                  <a:schemeClr val="accent1">
                    <a:lumMod val="75000"/>
                  </a:schemeClr>
                </a:solidFill>
              </a:rPr>
              <a:t>Rajitha</a:t>
            </a:r>
            <a:r>
              <a:rPr lang="en-IN" sz="1600" b="1" dirty="0">
                <a:solidFill>
                  <a:schemeClr val="accent1">
                    <a:lumMod val="75000"/>
                  </a:schemeClr>
                </a:solidFill>
              </a:rPr>
              <a:t> Reddy</a:t>
            </a:r>
          </a:p>
          <a:p>
            <a:pPr lvl="0">
              <a:spcBef>
                <a:spcPts val="340"/>
              </a:spcBef>
              <a:buClr>
                <a:srgbClr val="17365D"/>
              </a:buClr>
              <a:buSzPts val="1700"/>
            </a:pPr>
            <a:r>
              <a:rPr lang="en-GB" sz="1700" b="1" i="0" u="none" strike="noStrike" cap="none" dirty="0">
                <a:solidFill>
                  <a:schemeClr val="accent1">
                    <a:lumMod val="75000"/>
                  </a:schemeClr>
                </a:solidFill>
                <a:latin typeface="Cambria" panose="02040503050406030204" pitchFamily="18" charset="0"/>
                <a:ea typeface="Cambria" panose="02040503050406030204" pitchFamily="18" charset="0"/>
                <a:cs typeface="Verdana"/>
                <a:sym typeface="Verdana"/>
              </a:rPr>
              <a:t>Assistant Professor</a:t>
            </a:r>
            <a:endParaRPr dirty="0">
              <a:solidFill>
                <a:schemeClr val="accent1">
                  <a:lumMod val="75000"/>
                </a:schemeClr>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chemeClr val="accent1">
                    <a:lumMod val="75000"/>
                  </a:schemeClr>
                </a:solidFill>
                <a:latin typeface="Cambria" panose="02040503050406030204" pitchFamily="18" charset="0"/>
                <a:ea typeface="Cambria" panose="02040503050406030204" pitchFamily="18" charset="0"/>
                <a:cs typeface="Verdana"/>
                <a:sym typeface="Verdana"/>
              </a:rPr>
              <a:t>School of Computer Science and Engineering</a:t>
            </a:r>
            <a:endParaRPr dirty="0">
              <a:solidFill>
                <a:schemeClr val="accent1">
                  <a:lumMod val="75000"/>
                </a:schemeClr>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chemeClr val="accent1">
                    <a:lumMod val="75000"/>
                  </a:schemeClr>
                </a:solidFill>
                <a:latin typeface="Cambria" panose="02040503050406030204" pitchFamily="18" charset="0"/>
                <a:ea typeface="Cambria" panose="02040503050406030204" pitchFamily="18" charset="0"/>
                <a:cs typeface="Verdana"/>
                <a:sym typeface="Verdana"/>
              </a:rPr>
              <a:t>Presidency University</a:t>
            </a:r>
            <a:endParaRPr dirty="0">
              <a:solidFill>
                <a:schemeClr val="accent1">
                  <a:lumMod val="75000"/>
                </a:schemeClr>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866242684"/>
              </p:ext>
            </p:extLst>
          </p:nvPr>
        </p:nvGraphicFramePr>
        <p:xfrm>
          <a:off x="251526" y="2171356"/>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229641">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20221CSE0412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SIDDHARDHA VARMA</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20221CSE0556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SRINATH K S</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sz="1800" u="none" strike="noStrike" cap="none" dirty="0"/>
                        <a:t>20221CSE0402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RITEESH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sym typeface="Verdana"/>
              </a:rPr>
              <a:t>Final Year Project - 2026</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a:t>
            </a:r>
            <a:r>
              <a:rPr lang="kn-IN"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೨</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B . TECH</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002060"/>
                </a:solidFill>
                <a:latin typeface="Cambria" panose="02040503050406030204" pitchFamily="18" charset="0"/>
                <a:ea typeface="Cambria" panose="02040503050406030204" pitchFamily="18" charset="0"/>
                <a:cs typeface="Verdana"/>
                <a:sym typeface="Verdana"/>
              </a:rPr>
              <a:t>Dr. Asif  Mohamed HB</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err="1">
                <a:solidFill>
                  <a:srgbClr val="002060"/>
                </a:solidFill>
                <a:latin typeface="Cambria" panose="02040503050406030204" pitchFamily="18" charset="0"/>
                <a:ea typeface="Cambria" panose="02040503050406030204" pitchFamily="18" charset="0"/>
                <a:cs typeface="Verdana"/>
                <a:sym typeface="Verdana"/>
              </a:rPr>
              <a:t>Dr.Jayavadivel</a:t>
            </a:r>
            <a:r>
              <a:rPr lang="en-US" sz="1800" b="1" dirty="0">
                <a:solidFill>
                  <a:srgbClr val="002060"/>
                </a:solidFill>
                <a:latin typeface="Cambria" panose="02040503050406030204" pitchFamily="18" charset="0"/>
                <a:ea typeface="Cambria" panose="02040503050406030204" pitchFamily="18" charset="0"/>
                <a:cs typeface="Verdana"/>
                <a:sym typeface="Verdana"/>
              </a:rPr>
              <a:t> R</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F81B-D5E9-108C-95FD-504A5A87D977}"/>
              </a:ext>
            </a:extLst>
          </p:cNvPr>
          <p:cNvSpPr>
            <a:spLocks noGrp="1"/>
          </p:cNvSpPr>
          <p:nvPr>
            <p:ph type="title"/>
          </p:nvPr>
        </p:nvSpPr>
        <p:spPr/>
        <p:txBody>
          <a:bodyPr/>
          <a:lstStyle/>
          <a:p>
            <a:r>
              <a:rPr lang="en-US" dirty="0"/>
              <a:t>CONTENT:</a:t>
            </a:r>
            <a:endParaRPr lang="en-IN" dirty="0"/>
          </a:p>
        </p:txBody>
      </p:sp>
      <p:sp>
        <p:nvSpPr>
          <p:cNvPr id="3" name="Text Placeholder 2">
            <a:extLst>
              <a:ext uri="{FF2B5EF4-FFF2-40B4-BE49-F238E27FC236}">
                <a16:creationId xmlns:a16="http://schemas.microsoft.com/office/drawing/2014/main" id="{B080547D-DC55-A595-DE57-83F18FF4711D}"/>
              </a:ext>
            </a:extLst>
          </p:cNvPr>
          <p:cNvSpPr>
            <a:spLocks noGrp="1"/>
          </p:cNvSpPr>
          <p:nvPr>
            <p:ph type="body" idx="1"/>
          </p:nvPr>
        </p:nvSpPr>
        <p:spPr/>
        <p:txBody>
          <a:bodyPr>
            <a:normAutofit lnSpcReduction="10000"/>
          </a:bodyPr>
          <a:lstStyle/>
          <a:p>
            <a:r>
              <a:rPr lang="en-US" dirty="0"/>
              <a:t>ABSTRACT</a:t>
            </a:r>
          </a:p>
          <a:p>
            <a:r>
              <a:rPr lang="en-US" dirty="0"/>
              <a:t>LITERATURE SURVEY</a:t>
            </a:r>
          </a:p>
          <a:p>
            <a:r>
              <a:rPr lang="en-US" dirty="0"/>
              <a:t>OBJECTIVES</a:t>
            </a:r>
          </a:p>
          <a:p>
            <a:r>
              <a:rPr lang="en-US" dirty="0"/>
              <a:t>METHODOLOGY</a:t>
            </a:r>
          </a:p>
          <a:p>
            <a:r>
              <a:rPr lang="en-US" dirty="0"/>
              <a:t> Existing Methods and Drawbacks</a:t>
            </a:r>
          </a:p>
          <a:p>
            <a:r>
              <a:rPr lang="en-US" dirty="0"/>
              <a:t> Proposed Methods and feasibility study</a:t>
            </a:r>
          </a:p>
          <a:p>
            <a:r>
              <a:rPr lang="en-US" dirty="0"/>
              <a:t>Architecture diagram</a:t>
            </a:r>
          </a:p>
          <a:p>
            <a:r>
              <a:rPr lang="en-US" dirty="0"/>
              <a:t>Modules</a:t>
            </a:r>
          </a:p>
          <a:p>
            <a:r>
              <a:rPr lang="en-US" dirty="0"/>
              <a:t>Hardware and Software details</a:t>
            </a:r>
          </a:p>
          <a:p>
            <a:r>
              <a:rPr lang="en-US" dirty="0"/>
              <a:t>Timeline</a:t>
            </a:r>
          </a:p>
          <a:p>
            <a:r>
              <a:rPr lang="en-US" dirty="0"/>
              <a:t>Reference</a:t>
            </a:r>
            <a:br>
              <a:rPr lang="en-US" dirty="0"/>
            </a:br>
            <a:endParaRPr lang="en-US" dirty="0"/>
          </a:p>
          <a:p>
            <a:endParaRPr lang="en-US" dirty="0"/>
          </a:p>
          <a:p>
            <a:endParaRPr lang="en-US" dirty="0"/>
          </a:p>
          <a:p>
            <a:endParaRPr lang="en-IN" dirty="0"/>
          </a:p>
        </p:txBody>
      </p:sp>
    </p:spTree>
    <p:extLst>
      <p:ext uri="{BB962C8B-B14F-4D97-AF65-F5344CB8AC3E}">
        <p14:creationId xmlns:p14="http://schemas.microsoft.com/office/powerpoint/2010/main" val="3194281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47394-97DD-225E-E5AD-0220D5737B47}"/>
              </a:ext>
            </a:extLst>
          </p:cNvPr>
          <p:cNvSpPr>
            <a:spLocks noGrp="1"/>
          </p:cNvSpPr>
          <p:nvPr>
            <p:ph type="title"/>
          </p:nvPr>
        </p:nvSpPr>
        <p:spPr/>
        <p:txBody>
          <a:bodyPr/>
          <a:lstStyle/>
          <a:p>
            <a:r>
              <a:rPr lang="en-US" dirty="0"/>
              <a:t>ABSTRACT</a:t>
            </a:r>
            <a:endParaRPr lang="en-IN" dirty="0"/>
          </a:p>
        </p:txBody>
      </p:sp>
      <p:sp>
        <p:nvSpPr>
          <p:cNvPr id="3" name="Text Placeholder 2">
            <a:extLst>
              <a:ext uri="{FF2B5EF4-FFF2-40B4-BE49-F238E27FC236}">
                <a16:creationId xmlns:a16="http://schemas.microsoft.com/office/drawing/2014/main" id="{21523FB2-9995-0EC0-04D7-CA0D87183356}"/>
              </a:ext>
            </a:extLst>
          </p:cNvPr>
          <p:cNvSpPr>
            <a:spLocks noGrp="1"/>
          </p:cNvSpPr>
          <p:nvPr>
            <p:ph type="body" idx="1"/>
          </p:nvPr>
        </p:nvSpPr>
        <p:spPr/>
        <p:txBody>
          <a:bodyPr>
            <a:normAutofit fontScale="92500"/>
          </a:bodyPr>
          <a:lstStyle/>
          <a:p>
            <a:pPr marL="76200" indent="0">
              <a:buNone/>
            </a:pPr>
            <a:r>
              <a:rPr lang="en-US" dirty="0"/>
              <a:t>The rapid growth of higher education institutions has resulted in a large volume of alumni data that is often scattered, outdated, and poorly managed. Most existing alumni systems focus only on basic data storage and lack advanced engagement, analytics, and centralized management features. This project proposes a Centralized Alumni Data Management and Engagement System that provides a unified digital platform for storing, managing, and analyzing alumni academic and professional information. The system enables structured alumni–student interaction, mentorship programs, job referrals, and institutional engagement activities. Additionally, the platform offers administrative monitoring and analytics tools to support data-driven decision making. The proposed solution aims to improve alumni connectivity, institutional development, and long-term graduate tracking in a secure and scalable manner.</a:t>
            </a:r>
            <a:endParaRPr lang="en-IN" dirty="0"/>
          </a:p>
        </p:txBody>
      </p:sp>
    </p:spTree>
    <p:extLst>
      <p:ext uri="{BB962C8B-B14F-4D97-AF65-F5344CB8AC3E}">
        <p14:creationId xmlns:p14="http://schemas.microsoft.com/office/powerpoint/2010/main" val="662528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8F443-C3A6-A7B6-D57B-610A862E83FE}"/>
              </a:ext>
            </a:extLst>
          </p:cNvPr>
          <p:cNvSpPr>
            <a:spLocks noGrp="1"/>
          </p:cNvSpPr>
          <p:nvPr>
            <p:ph type="title"/>
          </p:nvPr>
        </p:nvSpPr>
        <p:spPr/>
        <p:txBody>
          <a:bodyPr/>
          <a:lstStyle/>
          <a:p>
            <a:r>
              <a:rPr lang="en-US" dirty="0"/>
              <a:t>Literature survey</a:t>
            </a:r>
            <a:endParaRPr lang="en-IN" dirty="0"/>
          </a:p>
        </p:txBody>
      </p:sp>
      <p:pic>
        <p:nvPicPr>
          <p:cNvPr id="7" name="Picture 6">
            <a:extLst>
              <a:ext uri="{FF2B5EF4-FFF2-40B4-BE49-F238E27FC236}">
                <a16:creationId xmlns:a16="http://schemas.microsoft.com/office/drawing/2014/main" id="{A8B21EA7-D289-C4F3-463D-7745979C9447}"/>
              </a:ext>
            </a:extLst>
          </p:cNvPr>
          <p:cNvPicPr>
            <a:picLocks noChangeAspect="1"/>
          </p:cNvPicPr>
          <p:nvPr/>
        </p:nvPicPr>
        <p:blipFill>
          <a:blip r:embed="rId2"/>
          <a:stretch>
            <a:fillRect/>
          </a:stretch>
        </p:blipFill>
        <p:spPr>
          <a:xfrm>
            <a:off x="142505" y="996834"/>
            <a:ext cx="11483438" cy="5012080"/>
          </a:xfrm>
          <a:prstGeom prst="rect">
            <a:avLst/>
          </a:prstGeom>
        </p:spPr>
      </p:pic>
    </p:spTree>
    <p:extLst>
      <p:ext uri="{BB962C8B-B14F-4D97-AF65-F5344CB8AC3E}">
        <p14:creationId xmlns:p14="http://schemas.microsoft.com/office/powerpoint/2010/main" val="1727806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E3AA-5A07-393F-7A1B-0B2A8F86E4EC}"/>
              </a:ext>
            </a:extLst>
          </p:cNvPr>
          <p:cNvSpPr>
            <a:spLocks noGrp="1"/>
          </p:cNvSpPr>
          <p:nvPr>
            <p:ph type="title"/>
          </p:nvPr>
        </p:nvSpPr>
        <p:spPr/>
        <p:txBody>
          <a:bodyPr/>
          <a:lstStyle/>
          <a:p>
            <a:r>
              <a:rPr lang="en-US" dirty="0"/>
              <a:t>OBJECTIVES:</a:t>
            </a:r>
            <a:endParaRPr lang="en-IN" dirty="0"/>
          </a:p>
        </p:txBody>
      </p:sp>
      <p:sp>
        <p:nvSpPr>
          <p:cNvPr id="3" name="Text Placeholder 2">
            <a:extLst>
              <a:ext uri="{FF2B5EF4-FFF2-40B4-BE49-F238E27FC236}">
                <a16:creationId xmlns:a16="http://schemas.microsoft.com/office/drawing/2014/main" id="{FFAA4BAA-9CDD-C30F-2CCD-D441A57747B0}"/>
              </a:ext>
            </a:extLst>
          </p:cNvPr>
          <p:cNvSpPr>
            <a:spLocks noGrp="1"/>
          </p:cNvSpPr>
          <p:nvPr>
            <p:ph type="body" idx="1"/>
          </p:nvPr>
        </p:nvSpPr>
        <p:spPr/>
        <p:txBody>
          <a:bodyPr>
            <a:normAutofit fontScale="85000" lnSpcReduction="10000"/>
          </a:bodyPr>
          <a:lstStyle/>
          <a:p>
            <a:r>
              <a:rPr lang="en-US" b="1" dirty="0"/>
              <a:t>To develop a centralized and secure alumni data management system</a:t>
            </a:r>
          </a:p>
          <a:p>
            <a:pPr marL="76200" indent="0">
              <a:buNone/>
            </a:pPr>
            <a:r>
              <a:rPr lang="en-US" dirty="0"/>
              <a:t>    To create a unified digital repository for storing, updating, and     managing alumni academic and professional information.</a:t>
            </a:r>
          </a:p>
          <a:p>
            <a:endParaRPr lang="en-US" dirty="0"/>
          </a:p>
          <a:p>
            <a:r>
              <a:rPr lang="en-US" b="1" dirty="0"/>
              <a:t>To enable structured alumni–student interaction and mentorship</a:t>
            </a:r>
          </a:p>
          <a:p>
            <a:pPr marL="76200" indent="0">
              <a:buNone/>
            </a:pPr>
            <a:r>
              <a:rPr lang="en-US" dirty="0"/>
              <a:t>    To provide a digital platform where students can connect with alumni for mentorship, career guidance, and professional networking.</a:t>
            </a:r>
          </a:p>
          <a:p>
            <a:endParaRPr lang="en-US" dirty="0"/>
          </a:p>
          <a:p>
            <a:r>
              <a:rPr lang="en-US" b="1" dirty="0"/>
              <a:t>To support job referrals and institutional engagement activities</a:t>
            </a:r>
          </a:p>
          <a:p>
            <a:pPr marL="76200" indent="0">
              <a:buNone/>
            </a:pPr>
            <a:r>
              <a:rPr lang="en-US" dirty="0"/>
              <a:t>     To allow alumni to post job opportunities, manage event participation, and contribute to institutional development.</a:t>
            </a:r>
          </a:p>
          <a:p>
            <a:endParaRPr lang="en-US" dirty="0"/>
          </a:p>
          <a:p>
            <a:r>
              <a:rPr lang="en-US" b="1" dirty="0"/>
              <a:t>To provide administrators with monitoring and analytics tools</a:t>
            </a:r>
          </a:p>
          <a:p>
            <a:pPr marL="76200" indent="0">
              <a:buNone/>
            </a:pPr>
            <a:r>
              <a:rPr lang="en-US" dirty="0"/>
              <a:t>    To help institutions analyze alumni trends, engagement levels, placement statistics, and system usage patterns.</a:t>
            </a:r>
            <a:endParaRPr lang="en-IN" dirty="0"/>
          </a:p>
        </p:txBody>
      </p:sp>
    </p:spTree>
    <p:extLst>
      <p:ext uri="{BB962C8B-B14F-4D97-AF65-F5344CB8AC3E}">
        <p14:creationId xmlns:p14="http://schemas.microsoft.com/office/powerpoint/2010/main" val="162783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5B5A3-8F93-340F-73EE-5D30B00826AE}"/>
              </a:ext>
            </a:extLst>
          </p:cNvPr>
          <p:cNvSpPr>
            <a:spLocks noGrp="1"/>
          </p:cNvSpPr>
          <p:nvPr>
            <p:ph type="title"/>
          </p:nvPr>
        </p:nvSpPr>
        <p:spPr/>
        <p:txBody>
          <a:bodyPr/>
          <a:lstStyle/>
          <a:p>
            <a:r>
              <a:rPr lang="en-US" dirty="0"/>
              <a:t>METHODOLOGY</a:t>
            </a:r>
            <a:endParaRPr lang="en-IN" dirty="0"/>
          </a:p>
        </p:txBody>
      </p:sp>
      <p:sp>
        <p:nvSpPr>
          <p:cNvPr id="3" name="Text Placeholder 2">
            <a:extLst>
              <a:ext uri="{FF2B5EF4-FFF2-40B4-BE49-F238E27FC236}">
                <a16:creationId xmlns:a16="http://schemas.microsoft.com/office/drawing/2014/main" id="{B3D26988-B9C0-3581-69D4-ACC4489A3AF0}"/>
              </a:ext>
            </a:extLst>
          </p:cNvPr>
          <p:cNvSpPr>
            <a:spLocks noGrp="1"/>
          </p:cNvSpPr>
          <p:nvPr>
            <p:ph type="body" idx="1"/>
          </p:nvPr>
        </p:nvSpPr>
        <p:spPr/>
        <p:txBody>
          <a:bodyPr>
            <a:normAutofit/>
          </a:bodyPr>
          <a:lstStyle/>
          <a:p>
            <a:pPr marL="533400" indent="-457200">
              <a:buFont typeface="+mj-lt"/>
              <a:buAutoNum type="arabicPeriod"/>
            </a:pPr>
            <a:r>
              <a:rPr lang="en-US" sz="2800" dirty="0"/>
              <a:t>Requirement Analysis and Problem Identification</a:t>
            </a:r>
          </a:p>
          <a:p>
            <a:pPr marL="533400" indent="-457200">
              <a:buFont typeface="+mj-lt"/>
              <a:buAutoNum type="arabicPeriod"/>
            </a:pPr>
            <a:r>
              <a:rPr lang="en-US" sz="2800" dirty="0"/>
              <a:t>System Architecture Design</a:t>
            </a:r>
          </a:p>
          <a:p>
            <a:pPr marL="533400" indent="-457200">
              <a:buFont typeface="+mj-lt"/>
              <a:buAutoNum type="arabicPeriod"/>
            </a:pPr>
            <a:r>
              <a:rPr lang="en-US" sz="2800" dirty="0"/>
              <a:t>Database Design and Centralized Repository Creation</a:t>
            </a:r>
          </a:p>
          <a:p>
            <a:pPr marL="533400" indent="-457200">
              <a:buFont typeface="+mj-lt"/>
              <a:buAutoNum type="arabicPeriod"/>
            </a:pPr>
            <a:r>
              <a:rPr lang="en-US" sz="2800" dirty="0"/>
              <a:t>Module Development</a:t>
            </a:r>
          </a:p>
          <a:p>
            <a:pPr marL="533400" indent="-457200">
              <a:buFont typeface="+mj-lt"/>
              <a:buAutoNum type="arabicPeriod"/>
            </a:pPr>
            <a:r>
              <a:rPr lang="en-US" sz="2800" dirty="0"/>
              <a:t>Security Implementation</a:t>
            </a:r>
          </a:p>
          <a:p>
            <a:pPr marL="533400" indent="-457200">
              <a:buFont typeface="+mj-lt"/>
              <a:buAutoNum type="arabicPeriod"/>
            </a:pPr>
            <a:r>
              <a:rPr lang="en-US" sz="2800" dirty="0"/>
              <a:t>Analytics and Monitoring Implementation</a:t>
            </a:r>
          </a:p>
          <a:p>
            <a:pPr marL="533400" indent="-457200">
              <a:buFont typeface="+mj-lt"/>
              <a:buAutoNum type="arabicPeriod"/>
            </a:pPr>
            <a:r>
              <a:rPr lang="en-US" sz="2800" dirty="0"/>
              <a:t>Testing and Validation</a:t>
            </a:r>
          </a:p>
          <a:p>
            <a:pPr marL="533400" indent="-457200">
              <a:buFont typeface="+mj-lt"/>
              <a:buAutoNum type="arabicPeriod"/>
            </a:pPr>
            <a:r>
              <a:rPr lang="en-US" sz="2800" dirty="0"/>
              <a:t>Deployment and System Evaluation</a:t>
            </a:r>
            <a:endParaRPr lang="en-IN" sz="2800" dirty="0"/>
          </a:p>
        </p:txBody>
      </p:sp>
    </p:spTree>
    <p:extLst>
      <p:ext uri="{BB962C8B-B14F-4D97-AF65-F5344CB8AC3E}">
        <p14:creationId xmlns:p14="http://schemas.microsoft.com/office/powerpoint/2010/main" val="1356162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55B77-D8C3-2899-F724-AA37863BBE21}"/>
              </a:ext>
            </a:extLst>
          </p:cNvPr>
          <p:cNvSpPr>
            <a:spLocks noGrp="1"/>
          </p:cNvSpPr>
          <p:nvPr>
            <p:ph type="title"/>
          </p:nvPr>
        </p:nvSpPr>
        <p:spPr/>
        <p:txBody>
          <a:bodyPr/>
          <a:lstStyle/>
          <a:p>
            <a:r>
              <a:rPr lang="en-US" dirty="0"/>
              <a:t> Existing Methods and Drawbacks</a:t>
            </a:r>
            <a:br>
              <a:rPr lang="en-US" dirty="0"/>
            </a:br>
            <a:endParaRPr lang="en-IN" dirty="0"/>
          </a:p>
        </p:txBody>
      </p:sp>
      <p:sp>
        <p:nvSpPr>
          <p:cNvPr id="3" name="Text Placeholder 2">
            <a:extLst>
              <a:ext uri="{FF2B5EF4-FFF2-40B4-BE49-F238E27FC236}">
                <a16:creationId xmlns:a16="http://schemas.microsoft.com/office/drawing/2014/main" id="{48279142-9FC0-CFD9-D920-5C8DCF3E39EC}"/>
              </a:ext>
            </a:extLst>
          </p:cNvPr>
          <p:cNvSpPr>
            <a:spLocks noGrp="1"/>
          </p:cNvSpPr>
          <p:nvPr>
            <p:ph type="body" idx="1"/>
          </p:nvPr>
        </p:nvSpPr>
        <p:spPr/>
        <p:txBody>
          <a:bodyPr>
            <a:normAutofit fontScale="92500" lnSpcReduction="20000"/>
          </a:bodyPr>
          <a:lstStyle/>
          <a:p>
            <a:pPr marL="76200" indent="0">
              <a:buNone/>
            </a:pPr>
            <a:r>
              <a:rPr lang="en-US" b="1" dirty="0"/>
              <a:t>Existing Methods:</a:t>
            </a:r>
          </a:p>
          <a:p>
            <a:r>
              <a:rPr lang="en-US" dirty="0"/>
              <a:t>Manual alumni record maintenance using spreadsheets.</a:t>
            </a:r>
          </a:p>
          <a:p>
            <a:r>
              <a:rPr lang="en-US" dirty="0"/>
              <a:t>Static alumni portals with limited interaction.</a:t>
            </a:r>
          </a:p>
          <a:p>
            <a:r>
              <a:rPr lang="en-US" dirty="0"/>
              <a:t>Mobile-based alumni applications without analytics.</a:t>
            </a:r>
          </a:p>
          <a:p>
            <a:r>
              <a:rPr lang="en-US" dirty="0"/>
              <a:t>Independent systems for events, jobs, and communication.</a:t>
            </a:r>
          </a:p>
          <a:p>
            <a:pPr marL="76200" indent="0">
              <a:buNone/>
            </a:pPr>
            <a:r>
              <a:rPr lang="en-US" b="1" dirty="0"/>
              <a:t>Drawbacks:</a:t>
            </a:r>
          </a:p>
          <a:p>
            <a:r>
              <a:rPr lang="en-US" dirty="0"/>
              <a:t>No centralized data repository.</a:t>
            </a:r>
          </a:p>
          <a:p>
            <a:r>
              <a:rPr lang="en-US" dirty="0"/>
              <a:t>Outdated and inconsistent data.</a:t>
            </a:r>
          </a:p>
          <a:p>
            <a:r>
              <a:rPr lang="en-US" dirty="0"/>
              <a:t>Lack of real-time engagement.</a:t>
            </a:r>
          </a:p>
          <a:p>
            <a:r>
              <a:rPr lang="en-US" dirty="0"/>
              <a:t>Weak security and privacy mechanisms.</a:t>
            </a:r>
          </a:p>
          <a:p>
            <a:r>
              <a:rPr lang="en-US" dirty="0"/>
              <a:t>No analytics for decision making.</a:t>
            </a:r>
          </a:p>
          <a:p>
            <a:r>
              <a:rPr lang="en-US" dirty="0"/>
              <a:t>No job referral tracking.</a:t>
            </a:r>
          </a:p>
          <a:p>
            <a:r>
              <a:rPr lang="en-US" dirty="0"/>
              <a:t>Platform dependency.</a:t>
            </a:r>
          </a:p>
          <a:p>
            <a:r>
              <a:rPr lang="en-US" dirty="0"/>
              <a:t>Poor scalability.</a:t>
            </a:r>
            <a:endParaRPr lang="en-IN" dirty="0"/>
          </a:p>
        </p:txBody>
      </p:sp>
    </p:spTree>
    <p:extLst>
      <p:ext uri="{BB962C8B-B14F-4D97-AF65-F5344CB8AC3E}">
        <p14:creationId xmlns:p14="http://schemas.microsoft.com/office/powerpoint/2010/main" val="673038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8E07C-8FE7-0C9C-128B-46EBD3D614C1}"/>
              </a:ext>
            </a:extLst>
          </p:cNvPr>
          <p:cNvSpPr>
            <a:spLocks noGrp="1"/>
          </p:cNvSpPr>
          <p:nvPr>
            <p:ph type="title"/>
          </p:nvPr>
        </p:nvSpPr>
        <p:spPr/>
        <p:txBody>
          <a:bodyPr/>
          <a:lstStyle/>
          <a:p>
            <a:r>
              <a:rPr lang="en-IN" dirty="0"/>
              <a:t>Proposed Method &amp; Feasibility Study</a:t>
            </a:r>
            <a:br>
              <a:rPr lang="en-IN" dirty="0"/>
            </a:br>
            <a:endParaRPr lang="en-IN" dirty="0"/>
          </a:p>
        </p:txBody>
      </p:sp>
      <p:sp>
        <p:nvSpPr>
          <p:cNvPr id="3" name="Text Placeholder 2">
            <a:extLst>
              <a:ext uri="{FF2B5EF4-FFF2-40B4-BE49-F238E27FC236}">
                <a16:creationId xmlns:a16="http://schemas.microsoft.com/office/drawing/2014/main" id="{B7299694-1701-8484-6785-FE479A6C2935}"/>
              </a:ext>
            </a:extLst>
          </p:cNvPr>
          <p:cNvSpPr>
            <a:spLocks noGrp="1"/>
          </p:cNvSpPr>
          <p:nvPr>
            <p:ph type="body" idx="1"/>
          </p:nvPr>
        </p:nvSpPr>
        <p:spPr/>
        <p:txBody>
          <a:bodyPr>
            <a:normAutofit fontScale="62500" lnSpcReduction="20000"/>
          </a:bodyPr>
          <a:lstStyle/>
          <a:p>
            <a:pPr marL="76200" indent="0">
              <a:buNone/>
            </a:pPr>
            <a:r>
              <a:rPr lang="en-IN" b="1" dirty="0"/>
              <a:t>Proposed Method:</a:t>
            </a:r>
          </a:p>
          <a:p>
            <a:r>
              <a:rPr lang="en-IN" dirty="0"/>
              <a:t>The proposed system introduces a web-based centralized alumni management platform with modular architecture. It integrates alumni data management, mentorship, job referrals, engagement activities, and analytics into a single system.</a:t>
            </a:r>
          </a:p>
          <a:p>
            <a:r>
              <a:rPr lang="en-IN" dirty="0"/>
              <a:t>Key Features:</a:t>
            </a:r>
          </a:p>
          <a:p>
            <a:r>
              <a:rPr lang="en-IN" dirty="0"/>
              <a:t>Centralized alumni database.</a:t>
            </a:r>
          </a:p>
          <a:p>
            <a:r>
              <a:rPr lang="en-IN" dirty="0"/>
              <a:t>Secure role-based login.</a:t>
            </a:r>
          </a:p>
          <a:p>
            <a:r>
              <a:rPr lang="en-IN" dirty="0"/>
              <a:t>Mentorship request system.</a:t>
            </a:r>
          </a:p>
          <a:p>
            <a:r>
              <a:rPr lang="en-IN" dirty="0"/>
              <a:t>Job posting and event management.</a:t>
            </a:r>
          </a:p>
          <a:p>
            <a:r>
              <a:rPr lang="en-IN" dirty="0"/>
              <a:t>Analytics dashboards.</a:t>
            </a:r>
          </a:p>
          <a:p>
            <a:pPr marL="76200" indent="0">
              <a:buNone/>
            </a:pPr>
            <a:r>
              <a:rPr lang="en-IN" b="1" dirty="0"/>
              <a:t>Feasibility Study</a:t>
            </a:r>
          </a:p>
          <a:p>
            <a:r>
              <a:rPr lang="en-IN" dirty="0"/>
              <a:t>Technical Feasibility:</a:t>
            </a:r>
          </a:p>
          <a:p>
            <a:r>
              <a:rPr lang="en-IN" dirty="0"/>
              <a:t>Uses standard web technologies (HTML, CSS, JS, PHP/Node, MySQL) which are easily implementable.</a:t>
            </a:r>
          </a:p>
          <a:p>
            <a:r>
              <a:rPr lang="en-IN" dirty="0"/>
              <a:t>Economic Feasibility:</a:t>
            </a:r>
          </a:p>
          <a:p>
            <a:r>
              <a:rPr lang="en-IN" dirty="0"/>
              <a:t>Uses open-source tools, so cost is minimal.</a:t>
            </a:r>
          </a:p>
          <a:p>
            <a:pPr marL="76200" indent="0">
              <a:buNone/>
            </a:pPr>
            <a:r>
              <a:rPr lang="en-IN" dirty="0"/>
              <a:t>Operational Feasibility:</a:t>
            </a:r>
          </a:p>
          <a:p>
            <a:r>
              <a:rPr lang="en-IN" dirty="0"/>
              <a:t>User-friendly interfaces for alumni, students, and admins.</a:t>
            </a:r>
          </a:p>
          <a:p>
            <a:r>
              <a:rPr lang="en-IN" dirty="0"/>
              <a:t>Resource Feasibility:</a:t>
            </a:r>
          </a:p>
          <a:p>
            <a:r>
              <a:rPr lang="en-IN" dirty="0"/>
              <a:t>Can be developed by a small student team with basic hardware.</a:t>
            </a:r>
          </a:p>
        </p:txBody>
      </p:sp>
    </p:spTree>
    <p:extLst>
      <p:ext uri="{BB962C8B-B14F-4D97-AF65-F5344CB8AC3E}">
        <p14:creationId xmlns:p14="http://schemas.microsoft.com/office/powerpoint/2010/main" val="2492314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65F25-D16C-241B-A79F-6A4B54318624}"/>
              </a:ext>
            </a:extLst>
          </p:cNvPr>
          <p:cNvSpPr>
            <a:spLocks noGrp="1"/>
          </p:cNvSpPr>
          <p:nvPr>
            <p:ph type="title"/>
          </p:nvPr>
        </p:nvSpPr>
        <p:spPr/>
        <p:txBody>
          <a:bodyPr/>
          <a:lstStyle/>
          <a:p>
            <a:r>
              <a:rPr lang="en-US" dirty="0"/>
              <a:t>ARCHITECTURE DIAGRAM</a:t>
            </a:r>
            <a:endParaRPr lang="en-IN" dirty="0"/>
          </a:p>
        </p:txBody>
      </p:sp>
      <p:pic>
        <p:nvPicPr>
          <p:cNvPr id="4" name="Picture 3">
            <a:extLst>
              <a:ext uri="{FF2B5EF4-FFF2-40B4-BE49-F238E27FC236}">
                <a16:creationId xmlns:a16="http://schemas.microsoft.com/office/drawing/2014/main" id="{1A9BF5CB-E775-F782-D9B1-1092A7E0DCEF}"/>
              </a:ext>
            </a:extLst>
          </p:cNvPr>
          <p:cNvPicPr>
            <a:picLocks noChangeAspect="1"/>
          </p:cNvPicPr>
          <p:nvPr/>
        </p:nvPicPr>
        <p:blipFill>
          <a:blip r:embed="rId2"/>
          <a:stretch>
            <a:fillRect/>
          </a:stretch>
        </p:blipFill>
        <p:spPr>
          <a:xfrm>
            <a:off x="2244437" y="1027687"/>
            <a:ext cx="6689481" cy="5555675"/>
          </a:xfrm>
          <a:prstGeom prst="rect">
            <a:avLst/>
          </a:prstGeom>
        </p:spPr>
      </p:pic>
      <p:sp>
        <p:nvSpPr>
          <p:cNvPr id="3" name="Text Placeholder 2">
            <a:extLst>
              <a:ext uri="{FF2B5EF4-FFF2-40B4-BE49-F238E27FC236}">
                <a16:creationId xmlns:a16="http://schemas.microsoft.com/office/drawing/2014/main" id="{AC58D628-C627-F5FE-E507-3AF9B9ACA2F1}"/>
              </a:ext>
            </a:extLst>
          </p:cNvPr>
          <p:cNvSpPr>
            <a:spLocks noGrp="1"/>
          </p:cNvSpPr>
          <p:nvPr>
            <p:ph type="body" idx="1"/>
          </p:nvPr>
        </p:nvSpPr>
        <p:spPr/>
        <p:txBody>
          <a:bodyPr/>
          <a:lstStyle/>
          <a:p>
            <a:pPr marL="76200" indent="0">
              <a:buNone/>
            </a:pPr>
            <a:endParaRPr lang="en-IN" dirty="0"/>
          </a:p>
        </p:txBody>
      </p:sp>
    </p:spTree>
    <p:extLst>
      <p:ext uri="{BB962C8B-B14F-4D97-AF65-F5344CB8AC3E}">
        <p14:creationId xmlns:p14="http://schemas.microsoft.com/office/powerpoint/2010/main" val="4244590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826A9-60A2-3A49-9046-63CD217A1D58}"/>
              </a:ext>
            </a:extLst>
          </p:cNvPr>
          <p:cNvSpPr>
            <a:spLocks noGrp="1"/>
          </p:cNvSpPr>
          <p:nvPr>
            <p:ph type="title"/>
          </p:nvPr>
        </p:nvSpPr>
        <p:spPr/>
        <p:txBody>
          <a:bodyPr/>
          <a:lstStyle/>
          <a:p>
            <a:r>
              <a:rPr lang="en-IN" dirty="0"/>
              <a:t>Modules</a:t>
            </a:r>
            <a:br>
              <a:rPr lang="en-IN" dirty="0"/>
            </a:br>
            <a:endParaRPr lang="en-IN" dirty="0"/>
          </a:p>
        </p:txBody>
      </p:sp>
      <p:sp>
        <p:nvSpPr>
          <p:cNvPr id="3" name="Text Placeholder 2">
            <a:extLst>
              <a:ext uri="{FF2B5EF4-FFF2-40B4-BE49-F238E27FC236}">
                <a16:creationId xmlns:a16="http://schemas.microsoft.com/office/drawing/2014/main" id="{6AD72BD7-2273-9483-9E35-B1614051827D}"/>
              </a:ext>
            </a:extLst>
          </p:cNvPr>
          <p:cNvSpPr>
            <a:spLocks noGrp="1"/>
          </p:cNvSpPr>
          <p:nvPr>
            <p:ph type="body" idx="1"/>
          </p:nvPr>
        </p:nvSpPr>
        <p:spPr>
          <a:xfrm>
            <a:off x="486888" y="855022"/>
            <a:ext cx="10993912" cy="5355773"/>
          </a:xfrm>
        </p:spPr>
        <p:txBody>
          <a:bodyPr>
            <a:normAutofit fontScale="55000" lnSpcReduction="20000"/>
          </a:bodyPr>
          <a:lstStyle/>
          <a:p>
            <a:pPr marL="76200" indent="0">
              <a:buNone/>
            </a:pPr>
            <a:endParaRPr lang="en-IN" dirty="0"/>
          </a:p>
          <a:p>
            <a:pPr marL="76200" indent="0">
              <a:buNone/>
            </a:pPr>
            <a:r>
              <a:rPr lang="en-IN" b="1" dirty="0"/>
              <a:t>1. User Authentication Module</a:t>
            </a:r>
          </a:p>
          <a:p>
            <a:pPr marL="76200" indent="0">
              <a:buNone/>
            </a:pPr>
            <a:r>
              <a:rPr lang="en-IN" dirty="0"/>
              <a:t>Login / Registration</a:t>
            </a:r>
          </a:p>
          <a:p>
            <a:pPr marL="76200" indent="0">
              <a:buNone/>
            </a:pPr>
            <a:r>
              <a:rPr lang="en-IN" dirty="0"/>
              <a:t>Role-based access</a:t>
            </a:r>
          </a:p>
          <a:p>
            <a:pPr marL="76200" indent="0">
              <a:buNone/>
            </a:pPr>
            <a:r>
              <a:rPr lang="en-IN" b="1" dirty="0"/>
              <a:t>2. Alumni Data Management Module</a:t>
            </a:r>
          </a:p>
          <a:p>
            <a:pPr marL="76200" indent="0">
              <a:buNone/>
            </a:pPr>
            <a:r>
              <a:rPr lang="en-IN" dirty="0"/>
              <a:t>Profile creation</a:t>
            </a:r>
          </a:p>
          <a:p>
            <a:pPr marL="76200" indent="0">
              <a:buNone/>
            </a:pPr>
            <a:r>
              <a:rPr lang="en-IN" dirty="0"/>
              <a:t>Academic &amp; professional info</a:t>
            </a:r>
          </a:p>
          <a:p>
            <a:pPr marL="76200" indent="0">
              <a:buNone/>
            </a:pPr>
            <a:r>
              <a:rPr lang="en-IN" b="1" dirty="0"/>
              <a:t>3. Mentorship Module</a:t>
            </a:r>
          </a:p>
          <a:p>
            <a:pPr marL="76200" indent="0">
              <a:buNone/>
            </a:pPr>
            <a:r>
              <a:rPr lang="en-IN" dirty="0"/>
              <a:t>Request system</a:t>
            </a:r>
          </a:p>
          <a:p>
            <a:pPr marL="76200" indent="0">
              <a:buNone/>
            </a:pPr>
            <a:r>
              <a:rPr lang="en-IN" dirty="0"/>
              <a:t>Communication</a:t>
            </a:r>
          </a:p>
          <a:p>
            <a:pPr marL="76200" indent="0">
              <a:buNone/>
            </a:pPr>
            <a:r>
              <a:rPr lang="en-IN" b="1" dirty="0"/>
              <a:t>4. Job Referral Module</a:t>
            </a:r>
          </a:p>
          <a:p>
            <a:pPr marL="76200" indent="0">
              <a:buNone/>
            </a:pPr>
            <a:r>
              <a:rPr lang="en-IN" dirty="0"/>
              <a:t>Job posting</a:t>
            </a:r>
          </a:p>
          <a:p>
            <a:pPr marL="76200" indent="0">
              <a:buNone/>
            </a:pPr>
            <a:r>
              <a:rPr lang="en-IN" dirty="0"/>
              <a:t>Applications</a:t>
            </a:r>
          </a:p>
          <a:p>
            <a:pPr marL="76200" indent="0">
              <a:buNone/>
            </a:pPr>
            <a:r>
              <a:rPr lang="en-IN" b="1" dirty="0"/>
              <a:t>5. Engagement Module</a:t>
            </a:r>
          </a:p>
          <a:p>
            <a:pPr marL="76200" indent="0">
              <a:buNone/>
            </a:pPr>
            <a:r>
              <a:rPr lang="en-IN" dirty="0"/>
              <a:t>Events</a:t>
            </a:r>
          </a:p>
          <a:p>
            <a:pPr marL="76200" indent="0">
              <a:buNone/>
            </a:pPr>
            <a:r>
              <a:rPr lang="en-IN" dirty="0"/>
              <a:t>Participation tracking</a:t>
            </a:r>
          </a:p>
          <a:p>
            <a:pPr marL="76200" indent="0">
              <a:buNone/>
            </a:pPr>
            <a:r>
              <a:rPr lang="en-IN" b="1" dirty="0"/>
              <a:t>6. Analytics Module</a:t>
            </a:r>
          </a:p>
          <a:p>
            <a:pPr marL="76200" indent="0">
              <a:buNone/>
            </a:pPr>
            <a:r>
              <a:rPr lang="en-IN" dirty="0"/>
              <a:t>Graphs</a:t>
            </a:r>
          </a:p>
          <a:p>
            <a:pPr marL="76200" indent="0">
              <a:buNone/>
            </a:pPr>
            <a:r>
              <a:rPr lang="en-IN" dirty="0"/>
              <a:t>Reports</a:t>
            </a:r>
          </a:p>
          <a:p>
            <a:pPr marL="76200" indent="0">
              <a:buNone/>
            </a:pPr>
            <a:r>
              <a:rPr lang="en-IN" b="1" dirty="0"/>
              <a:t>7. Admin Module</a:t>
            </a:r>
          </a:p>
          <a:p>
            <a:pPr marL="76200" indent="0">
              <a:buNone/>
            </a:pPr>
            <a:r>
              <a:rPr lang="en-IN" dirty="0"/>
              <a:t>User control</a:t>
            </a:r>
          </a:p>
          <a:p>
            <a:pPr marL="76200" indent="0">
              <a:buNone/>
            </a:pPr>
            <a:r>
              <a:rPr lang="en-IN" dirty="0"/>
              <a:t>System monitoring</a:t>
            </a:r>
          </a:p>
        </p:txBody>
      </p:sp>
    </p:spTree>
    <p:extLst>
      <p:ext uri="{BB962C8B-B14F-4D97-AF65-F5344CB8AC3E}">
        <p14:creationId xmlns:p14="http://schemas.microsoft.com/office/powerpoint/2010/main" val="3112929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B2B56-5BDC-65FC-BA70-34249AED128C}"/>
              </a:ext>
            </a:extLst>
          </p:cNvPr>
          <p:cNvSpPr>
            <a:spLocks noGrp="1"/>
          </p:cNvSpPr>
          <p:nvPr>
            <p:ph type="title"/>
          </p:nvPr>
        </p:nvSpPr>
        <p:spPr/>
        <p:txBody>
          <a:bodyPr/>
          <a:lstStyle/>
          <a:p>
            <a:r>
              <a:rPr lang="en-IN" dirty="0"/>
              <a:t>Hardware and Software Details</a:t>
            </a:r>
            <a:br>
              <a:rPr lang="en-IN" dirty="0"/>
            </a:br>
            <a:endParaRPr lang="en-IN" dirty="0"/>
          </a:p>
        </p:txBody>
      </p:sp>
      <p:sp>
        <p:nvSpPr>
          <p:cNvPr id="3" name="Text Placeholder 2">
            <a:extLst>
              <a:ext uri="{FF2B5EF4-FFF2-40B4-BE49-F238E27FC236}">
                <a16:creationId xmlns:a16="http://schemas.microsoft.com/office/drawing/2014/main" id="{883B2520-1FE0-E77E-519A-830256D2575A}"/>
              </a:ext>
            </a:extLst>
          </p:cNvPr>
          <p:cNvSpPr>
            <a:spLocks noGrp="1"/>
          </p:cNvSpPr>
          <p:nvPr>
            <p:ph type="body" idx="1"/>
          </p:nvPr>
        </p:nvSpPr>
        <p:spPr/>
        <p:txBody>
          <a:bodyPr>
            <a:normAutofit/>
          </a:bodyPr>
          <a:lstStyle/>
          <a:p>
            <a:pPr marL="76200" indent="0">
              <a:buNone/>
            </a:pPr>
            <a:r>
              <a:rPr lang="en-IN" b="1" dirty="0"/>
              <a:t>Hardware:</a:t>
            </a:r>
          </a:p>
          <a:p>
            <a:r>
              <a:rPr lang="en-IN" dirty="0"/>
              <a:t>Processor: Intel i3 or above</a:t>
            </a:r>
          </a:p>
          <a:p>
            <a:r>
              <a:rPr lang="en-IN" dirty="0"/>
              <a:t>RAM: 4 GB minimum</a:t>
            </a:r>
          </a:p>
          <a:p>
            <a:r>
              <a:rPr lang="en-IN" dirty="0"/>
              <a:t>Storage: 50 GB</a:t>
            </a:r>
          </a:p>
          <a:p>
            <a:r>
              <a:rPr lang="en-IN" dirty="0"/>
              <a:t>Internet connection</a:t>
            </a:r>
          </a:p>
          <a:p>
            <a:pPr marL="76200" indent="0">
              <a:buNone/>
            </a:pPr>
            <a:r>
              <a:rPr lang="en-IN" b="1" dirty="0"/>
              <a:t>Software:</a:t>
            </a:r>
          </a:p>
          <a:p>
            <a:r>
              <a:rPr lang="en-IN" dirty="0"/>
              <a:t>Frontend: HTML, CSS, JavaScript, Bootstrap</a:t>
            </a:r>
          </a:p>
          <a:p>
            <a:r>
              <a:rPr lang="en-IN" dirty="0"/>
              <a:t>Backend: PHP / Node.js</a:t>
            </a:r>
          </a:p>
          <a:p>
            <a:r>
              <a:rPr lang="en-IN" dirty="0"/>
              <a:t>Database: MySQL</a:t>
            </a:r>
          </a:p>
          <a:p>
            <a:r>
              <a:rPr lang="en-IN" dirty="0"/>
              <a:t>Server: XAMPP / Localhost</a:t>
            </a:r>
          </a:p>
          <a:p>
            <a:r>
              <a:rPr lang="en-IN" dirty="0"/>
              <a:t>OS: Windows / Linux</a:t>
            </a:r>
          </a:p>
        </p:txBody>
      </p:sp>
    </p:spTree>
    <p:extLst>
      <p:ext uri="{BB962C8B-B14F-4D97-AF65-F5344CB8AC3E}">
        <p14:creationId xmlns:p14="http://schemas.microsoft.com/office/powerpoint/2010/main" val="1181064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475343" y="1524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r>
              <a:rPr lang="en-US" dirty="0">
                <a:latin typeface="Verdana" panose="020B0604030504040204" pitchFamily="34" charset="0"/>
                <a:ea typeface="Verdana" panose="020B0604030504040204" pitchFamily="34" charset="0"/>
              </a:rPr>
              <a:t>● Jan 13  2026 (Review-1): Project planning, finalization of objectives, and comprehensive literature review. </a:t>
            </a:r>
          </a:p>
          <a:p>
            <a:pPr marL="342900" lvl="0" indent="-190500" algn="just">
              <a:spcBef>
                <a:spcPts val="0"/>
              </a:spcBef>
              <a:buSzPct val="100000"/>
              <a:buNone/>
            </a:pPr>
            <a:r>
              <a:rPr lang="en-US" dirty="0">
                <a:latin typeface="Verdana" panose="020B0604030504040204" pitchFamily="34" charset="0"/>
                <a:ea typeface="Verdana" panose="020B0604030504040204" pitchFamily="34" charset="0"/>
              </a:rPr>
              <a:t>● Feb 3-27 2026 (Review-2 &amp; 3): Dataset collection, ML model development, and integration into the web application. </a:t>
            </a:r>
          </a:p>
          <a:p>
            <a:pPr marL="342900" lvl="0" indent="-190500" algn="just">
              <a:spcBef>
                <a:spcPts val="0"/>
              </a:spcBef>
              <a:buSzPct val="100000"/>
              <a:buNone/>
            </a:pPr>
            <a:r>
              <a:rPr lang="en-US" dirty="0">
                <a:latin typeface="Verdana" panose="020B0604030504040204" pitchFamily="34" charset="0"/>
                <a:ea typeface="Verdana" panose="020B0604030504040204" pitchFamily="34" charset="0"/>
              </a:rPr>
              <a:t>● March 28 2026 (Review-4): AI voice assistant integration, rigorous testing, and refinement based on feedback. </a:t>
            </a:r>
          </a:p>
          <a:p>
            <a:pPr marL="342900" lvl="0" indent="-190500" algn="just">
              <a:spcBef>
                <a:spcPts val="0"/>
              </a:spcBef>
              <a:buSzPct val="100000"/>
              <a:buNone/>
            </a:pPr>
            <a:r>
              <a:rPr lang="en-US" dirty="0">
                <a:latin typeface="Verdana" panose="020B0604030504040204" pitchFamily="34" charset="0"/>
                <a:ea typeface="Verdana" panose="020B0604030504040204" pitchFamily="34" charset="0"/>
              </a:rPr>
              <a:t>● April 2026 (Final Viva): Final deployment of the platform, documentation, and final demonstration. </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kn-IN" dirty="0"/>
          </a:p>
        </p:txBody>
      </p:sp>
      <p:sp>
        <p:nvSpPr>
          <p:cNvPr id="3" name="Rectangle 1"/>
          <p:cNvSpPr>
            <a:spLocks noGrp="1" noChangeArrowheads="1"/>
          </p:cNvSpPr>
          <p:nvPr>
            <p:ph type="body" idx="1"/>
          </p:nvPr>
        </p:nvSpPr>
        <p:spPr bwMode="auto">
          <a:xfrm>
            <a:off x="387350" y="2054001"/>
            <a:ext cx="11093450" cy="287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[1] D. M. Sanusi et al., “An Interactive Alumni Tracking Dashboard,” in Proc. IEEE Conf. on Educational Technologies, 2023.</a:t>
            </a:r>
          </a:p>
          <a:p>
            <a:r>
              <a:rPr lang="en-US" b="1" dirty="0"/>
              <a:t>[2] Babu M., Sandhiya K., Preetha V., “Design of Alumni Portal with Data Security,” IEEE ICESC, 2021.</a:t>
            </a:r>
          </a:p>
          <a:p>
            <a:r>
              <a:rPr lang="en-US" b="1" dirty="0"/>
              <a:t>[3] Luciano &amp; Alcantara, “Design and Development of Alumni Tracking System for HEIs,” IEEE, 2022.</a:t>
            </a:r>
            <a:endParaRPr kumimoji="0" lang="kn-IN" altLang="kn-I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14274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610</TotalTime>
  <Words>919</Words>
  <Application>Microsoft Office PowerPoint</Application>
  <PresentationFormat>Widescreen</PresentationFormat>
  <Paragraphs>136</Paragraphs>
  <Slides>14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Cambria</vt:lpstr>
      <vt:lpstr>Verdana</vt:lpstr>
      <vt:lpstr>Bioinformatics</vt:lpstr>
      <vt:lpstr>SIH25017_ Digital Platform for Centralized Alumni Data Management and Engagement</vt:lpstr>
      <vt:lpstr>CONTENT:</vt:lpstr>
      <vt:lpstr>ABSTRACT</vt:lpstr>
      <vt:lpstr>Literature survey</vt:lpstr>
      <vt:lpstr>OBJECTIVES:</vt:lpstr>
      <vt:lpstr>METHODOLOGY</vt:lpstr>
      <vt:lpstr> Existing Methods and Drawbacks </vt:lpstr>
      <vt:lpstr>Proposed Method &amp; Feasibility Study </vt:lpstr>
      <vt:lpstr>ARCHITECTURE DIAGRAM</vt:lpstr>
      <vt:lpstr>Modules </vt:lpstr>
      <vt:lpstr>Hardware and Software Details </vt:lpstr>
      <vt:lpstr>Timeline of the Project (Gantt Chart)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DANDU DINESH SIDDHARDHA VARMA</cp:lastModifiedBy>
  <cp:revision>58</cp:revision>
  <dcterms:modified xsi:type="dcterms:W3CDTF">2026-02-02T08:54:37Z</dcterms:modified>
</cp:coreProperties>
</file>